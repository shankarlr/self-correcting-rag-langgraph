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12"/>
  </p:handoutMasterIdLst>
  <p:sldIdLst>
    <p:sldId id="416" r:id="rId3"/>
    <p:sldId id="417" r:id="rId4"/>
    <p:sldId id="418" r:id="rId5"/>
    <p:sldId id="448" r:id="rId7"/>
    <p:sldId id="446" r:id="rId8"/>
    <p:sldId id="447" r:id="rId9"/>
    <p:sldId id="440" r:id="rId10"/>
    <p:sldId id="443" r:id="rId11"/>
  </p:sldIdLst>
  <p:sldSz cx="9144000" cy="5143500" type="screen16x9"/>
  <p:notesSz cx="6858000" cy="9144000"/>
  <p:embeddedFontLst>
    <p:embeddedFont>
      <p:font typeface="Open Sans" panose="020B0606030504020204" charset="0"/>
      <p:regular r:id="rId17"/>
      <p:bold r:id="rId18"/>
    </p:embeddedFont>
    <p:embeddedFont>
      <p:font typeface="Philosopher" panose="00000500000000000000" charset="0"/>
      <p:regular r:id="rId19"/>
      <p:bold r:id="rId20"/>
      <p:italic r:id="rId21"/>
      <p:boldItalic r:id="rId22"/>
    </p:embeddedFont>
  </p:embeddedFontLst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3" userDrawn="1">
          <p15:clr>
            <a:srgbClr val="A4A3A4"/>
          </p15:clr>
        </p15:guide>
        <p15:guide id="2" pos="3089" userDrawn="1">
          <p15:clr>
            <a:srgbClr val="A4A3A4"/>
          </p15:clr>
        </p15:guide>
        <p15:guide id="3" orient="horz" pos="3043" userDrawn="1">
          <p15:clr>
            <a:srgbClr val="A4A3A4"/>
          </p15:clr>
        </p15:guide>
        <p15:guide id="4" orient="horz" pos="453" userDrawn="1">
          <p15:clr>
            <a:srgbClr val="A4A3A4"/>
          </p15:clr>
        </p15:guide>
        <p15:guide id="5" orient="horz" pos="2850" userDrawn="1">
          <p15:clr>
            <a:srgbClr val="A4A3A4"/>
          </p15:clr>
        </p15:guide>
        <p15:guide id="6" orient="horz" pos="2618" userDrawn="1">
          <p15:clr>
            <a:srgbClr val="A4A3A4"/>
          </p15:clr>
        </p15:guide>
        <p15:guide id="7" pos="2854" userDrawn="1">
          <p15:clr>
            <a:srgbClr val="A4A3A4"/>
          </p15:clr>
        </p15:guide>
        <p15:guide id="8" orient="horz" pos="1619" userDrawn="1">
          <p15:clr>
            <a:srgbClr val="A4A3A4"/>
          </p15:clr>
        </p15:guide>
        <p15:guide id="9" orient="horz" pos="695" userDrawn="1">
          <p15:clr>
            <a:srgbClr val="A4A3A4"/>
          </p15:clr>
        </p15:guide>
        <p15:guide id="10" pos="3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2A"/>
    <a:srgbClr val="C6AF92"/>
    <a:srgbClr val="1D1D1E"/>
    <a:srgbClr val="1C1C1E"/>
    <a:srgbClr val="181718"/>
    <a:srgbClr val="FCC896"/>
    <a:srgbClr val="2B2B2B"/>
    <a:srgbClr val="0B0B0B"/>
    <a:srgbClr val="CC9868"/>
    <a:srgbClr val="FCC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5244" autoAdjust="0"/>
  </p:normalViewPr>
  <p:slideViewPr>
    <p:cSldViewPr snapToGrid="0" showGuides="1">
      <p:cViewPr>
        <p:scale>
          <a:sx n="96" d="100"/>
          <a:sy n="96" d="100"/>
        </p:scale>
        <p:origin x="1325" y="274"/>
      </p:cViewPr>
      <p:guideLst>
        <p:guide pos="83"/>
        <p:guide pos="3089"/>
        <p:guide orient="horz" pos="3043"/>
        <p:guide orient="horz" pos="453"/>
        <p:guide orient="horz" pos="2850"/>
        <p:guide orient="horz" pos="2618"/>
        <p:guide pos="2854"/>
        <p:guide orient="horz" pos="1619"/>
        <p:guide orient="horz" pos="695"/>
        <p:guide pos="3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4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8686800" cy="1789899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1305017"/>
            <a:ext cx="9144000" cy="1376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19929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69981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374461"/>
            <a:ext cx="3889744" cy="2884967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3778103" y="1753689"/>
            <a:ext cx="666307" cy="212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8915400" y="1375144"/>
            <a:ext cx="228600" cy="288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99484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23761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7574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B"/>
            </a:gs>
            <a:gs pos="100000">
              <a:srgbClr val="2B2B2B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Open Sans" panose="020B0606030504020204" charset="0"/>
          <a:ea typeface="Philosopher" panose="00000500000000000000" charset="0"/>
          <a:cs typeface="Philosopher" panose="00000500000000000000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H="1" flipV="1">
            <a:off x="1407795" y="0"/>
            <a:ext cx="8629015" cy="51435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132504" y="95682"/>
            <a:ext cx="765162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761747" y="4524599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GB" altLang="en-US" sz="1400" b="1">
                <a:ln w="38100">
                  <a:noFill/>
                </a:ln>
                <a:solidFill>
                  <a:srgbClr val="C00000"/>
                </a:soli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CONCENTRIX</a:t>
            </a:r>
            <a:endParaRPr lang="en-GB" altLang="en-US" sz="1400" b="1">
              <a:ln w="38100">
                <a:noFill/>
              </a:ln>
              <a:solidFill>
                <a:srgbClr val="C00000"/>
              </a:soli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2379" y="1608651"/>
            <a:ext cx="668401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How to Make a Great First</a:t>
            </a:r>
            <a:endParaRPr lang="en-US" altLang="en-GB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  <a:p>
            <a:pPr algn="l"/>
            <a:r>
              <a:rPr lang="en-US" alt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Impression in a Speech</a:t>
            </a:r>
            <a:endParaRPr lang="en-US" altLang="en-GB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754092" y="3715437"/>
            <a:ext cx="1122989" cy="287190"/>
          </a:xfrm>
          <a:prstGeom prst="roundRect">
            <a:avLst>
              <a:gd name="adj" fmla="val 50000"/>
            </a:avLst>
          </a:prstGeom>
          <a:solidFill>
            <a:srgbClr val="FCC8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cs typeface="Philosopher" panose="00000500000000000000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83895" y="3750945"/>
            <a:ext cx="1273810" cy="2514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900" b="1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hilosopher" panose="00000500000000000000" charset="0"/>
                <a:ea typeface="Philosopher" panose="00000500000000000000" charset="0"/>
                <a:cs typeface="Philosopher" panose="00000500000000000000" charset="0"/>
                <a:sym typeface="Open Sans" panose="020B0606030504020204" charset="0"/>
              </a:rPr>
              <a:t>SHANKAR L R</a:t>
            </a:r>
            <a:endParaRPr kumimoji="0" lang="en-GB" altLang="en-US" sz="900" b="1" i="0" u="none" strike="noStrike" kern="1200" cap="none" spc="0" normalizeH="0" baseline="0" noProof="0">
              <a:ln w="381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Philosopher" panose="00000500000000000000" charset="0"/>
              <a:ea typeface="Philosopher" panose="00000500000000000000" charset="0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78787" y="1279385"/>
            <a:ext cx="35574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endParaRPr lang="en-US" altLang="zh-CN" sz="3200" b="1">
              <a:ln w="3175">
                <a:gradFill>
                  <a:gsLst>
                    <a:gs pos="0">
                      <a:srgbClr val="FAD0B5"/>
                    </a:gs>
                    <a:gs pos="70000">
                      <a:srgbClr val="F7E7E1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Open Sans" panose="020B0606030504020204" charset="0"/>
              <a:ea typeface="Open Sans" panose="020B0606030504020204" charset="0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84530" y="3037205"/>
            <a:ext cx="5025390" cy="5581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 Because the first few seconds define everything.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78815" y="4157980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457200"/>
            <a:r>
              <a:rPr lang="en-GB" altLang="en-US" sz="1000" b="1">
                <a:ln w="38100"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Team: Abhishek Konnur</a:t>
            </a:r>
            <a:endParaRPr lang="en-GB" altLang="en-US" sz="1000" b="1">
              <a:ln w="38100">
                <a:noFill/>
              </a:ln>
              <a:solidFill>
                <a:schemeClr val="bg1">
                  <a:lumMod val="95000"/>
                </a:schemeClr>
              </a:soli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图片 97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>
            <a:off x="228600" y="0"/>
            <a:ext cx="5010912" cy="5143500"/>
          </a:xfrm>
          <a:prstGeom prst="rect">
            <a:avLst/>
          </a:prstGeom>
        </p:spPr>
      </p:pic>
      <p:sp>
        <p:nvSpPr>
          <p:cNvPr id="82" name="矩形 81"/>
          <p:cNvSpPr/>
          <p:nvPr/>
        </p:nvSpPr>
        <p:spPr>
          <a:xfrm>
            <a:off x="5705475" y="1056640"/>
            <a:ext cx="251714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 sz="20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Prepare to Impress</a:t>
            </a:r>
            <a:endParaRPr lang="en-US" altLang="en-GB" sz="20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742305" y="1415415"/>
            <a:ext cx="2418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en-GB" sz="800">
                <a:latin typeface="+mn-ea"/>
                <a:ea typeface="+mn-ea"/>
                <a:cs typeface="Open Sans" panose="020B0606030504020204" charset="0"/>
              </a:rPr>
              <a:t>Preparation isn't just homework — it's your superpower</a:t>
            </a:r>
            <a:endParaRPr lang="en-US" altLang="en-GB" sz="800"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157089" y="1107979"/>
            <a:ext cx="56988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pc="0"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effectLst/>
                <a:cs typeface="Philosopher" panose="00000500000000000000" charset="0"/>
              </a:rPr>
              <a:t>01</a:t>
            </a:r>
            <a:endParaRPr lang="zh-CN" altLang="en-US" spc="0"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effectLst/>
              <a:cs typeface="Philosopher" panose="00000500000000000000" charset="0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698812" y="1249462"/>
            <a:ext cx="0" cy="129745"/>
          </a:xfrm>
          <a:prstGeom prst="line">
            <a:avLst/>
          </a:prstGeom>
          <a:ln w="19050">
            <a:solidFill>
              <a:srgbClr val="FCC8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725795" y="1967865"/>
            <a:ext cx="251714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 Start Strong</a:t>
            </a:r>
            <a:endParaRPr lang="en-US" altLang="en-GB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742305" y="2292985"/>
            <a:ext cx="2790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zh-CN" sz="800">
                <a:latin typeface="+mn-ea"/>
                <a:ea typeface="+mn-ea"/>
                <a:cs typeface="Open Sans" panose="020B0606030504020204" charset="0"/>
              </a:rPr>
              <a:t>Briefly desc</a:t>
            </a:r>
            <a:r>
              <a:rPr lang="en-GB" altLang="en-US" sz="800">
                <a:latin typeface="+mn-ea"/>
                <a:ea typeface="+mn-ea"/>
                <a:cs typeface="Open Sans" panose="020B0606030504020204" charset="0"/>
              </a:rPr>
              <a:t>ribe ,</a:t>
            </a:r>
            <a:r>
              <a:rPr lang="en-US" altLang="en-GB" sz="800">
                <a:latin typeface="+mn-ea"/>
                <a:ea typeface="+mn-ea"/>
                <a:cs typeface="Open Sans" panose="020B0606030504020204" charset="0"/>
              </a:rPr>
              <a:t>You don’t get a second shot at a first impression — so make it count</a:t>
            </a:r>
            <a:r>
              <a:rPr lang="en-US" altLang="zh-CN" sz="800">
                <a:latin typeface="+mn-ea"/>
                <a:ea typeface="+mn-ea"/>
                <a:cs typeface="Open Sans" panose="020B0606030504020204" charset="0"/>
              </a:rPr>
              <a:t>rib</a:t>
            </a:r>
            <a:r>
              <a:rPr lang="en-GB" altLang="en-US" sz="800">
                <a:latin typeface="+mn-ea"/>
                <a:ea typeface="+mn-ea"/>
                <a:cs typeface="Open Sans" panose="020B0606030504020204" charset="0"/>
              </a:rPr>
              <a:t>ut</a:t>
            </a:r>
            <a:r>
              <a:rPr lang="en-US" altLang="zh-CN" sz="800">
                <a:latin typeface="+mn-ea"/>
                <a:ea typeface="+mn-ea"/>
                <a:cs typeface="Open Sans" panose="020B0606030504020204" charset="0"/>
              </a:rPr>
              <a:t>e the concept</a:t>
            </a:r>
            <a:endParaRPr lang="en-US" altLang="zh-CN" sz="800"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157089" y="1985650"/>
            <a:ext cx="56988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pc="0"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effectLst/>
                <a:cs typeface="Philosopher" panose="00000500000000000000" charset="0"/>
              </a:rPr>
              <a:t>02</a:t>
            </a:r>
            <a:endParaRPr lang="zh-CN" altLang="en-US" spc="0"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effectLst/>
              <a:cs typeface="Philosopher" panose="00000500000000000000" charset="0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5698812" y="2127134"/>
            <a:ext cx="0" cy="129745"/>
          </a:xfrm>
          <a:prstGeom prst="line">
            <a:avLst/>
          </a:prstGeom>
          <a:ln w="19050">
            <a:solidFill>
              <a:srgbClr val="FCC8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5725795" y="2845435"/>
            <a:ext cx="251714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Own the Stage</a:t>
            </a:r>
            <a:endParaRPr lang="en-US" altLang="en-GB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742305" y="3171190"/>
            <a:ext cx="24809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en-GB" sz="800">
                <a:latin typeface="+mn-ea"/>
                <a:ea typeface="+mn-ea"/>
                <a:cs typeface="Open Sans" panose="020B0606030504020204" charset="0"/>
              </a:rPr>
              <a:t>Your voice is an instrument — tune it to the message</a:t>
            </a:r>
            <a:endParaRPr lang="en-US" altLang="en-GB" sz="800"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157089" y="2863322"/>
            <a:ext cx="56988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pc="0"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effectLst/>
                <a:cs typeface="Philosopher" panose="00000500000000000000" charset="0"/>
              </a:rPr>
              <a:t>03</a:t>
            </a:r>
            <a:endParaRPr lang="zh-CN" altLang="en-US" spc="0"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effectLst/>
              <a:cs typeface="Philosopher" panose="00000500000000000000" charset="0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5698812" y="3004806"/>
            <a:ext cx="0" cy="129745"/>
          </a:xfrm>
          <a:prstGeom prst="line">
            <a:avLst/>
          </a:prstGeom>
          <a:ln w="19050">
            <a:solidFill>
              <a:srgbClr val="FCC8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5725795" y="3723005"/>
            <a:ext cx="31546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 Make It Memorable</a:t>
            </a:r>
            <a:endParaRPr lang="en-US" altLang="en-GB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742130" y="4048581"/>
            <a:ext cx="248021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anose="02010803020104030203" pitchFamily="2" charset="-79"/>
              </a:defRPr>
            </a:lvl1pPr>
          </a:lstStyle>
          <a:p>
            <a:r>
              <a:rPr lang="en-US" altLang="en-GB" sz="800">
                <a:latin typeface="+mn-ea"/>
                <a:ea typeface="+mn-ea"/>
                <a:cs typeface="Open Sans" panose="020B0606030504020204" charset="0"/>
              </a:rPr>
              <a:t>Want to be unforgettable? Leave a signature.</a:t>
            </a:r>
            <a:endParaRPr lang="en-US" altLang="en-GB" sz="800"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157089" y="3740994"/>
            <a:ext cx="56988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pc="0"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effectLst/>
                <a:cs typeface="Philosopher" panose="00000500000000000000" charset="0"/>
              </a:rPr>
              <a:t>04</a:t>
            </a:r>
            <a:endParaRPr lang="zh-CN" altLang="en-US" spc="0"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effectLst/>
              <a:cs typeface="Philosopher" panose="00000500000000000000" charset="0"/>
            </a:endParaRPr>
          </a:p>
        </p:txBody>
      </p:sp>
      <p:cxnSp>
        <p:nvCxnSpPr>
          <p:cNvPr id="97" name="直接连接符 96"/>
          <p:cNvCxnSpPr/>
          <p:nvPr/>
        </p:nvCxnSpPr>
        <p:spPr>
          <a:xfrm>
            <a:off x="5698812" y="3882477"/>
            <a:ext cx="0" cy="129745"/>
          </a:xfrm>
          <a:prstGeom prst="line">
            <a:avLst/>
          </a:prstGeom>
          <a:ln w="19050">
            <a:solidFill>
              <a:srgbClr val="FCC8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 bwMode="auto">
          <a:xfrm>
            <a:off x="1156970" y="2008505"/>
            <a:ext cx="340360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4800" b="1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CONTENTS</a:t>
            </a:r>
            <a:endParaRPr lang="zh-CN" altLang="en-US" sz="4800" b="1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819328" y="2825892"/>
            <a:ext cx="2154279" cy="575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en-GB" sz="105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Let me ask you this — how long does it take for someone to form an opinion about you?</a:t>
            </a:r>
            <a:endParaRPr lang="en-US" altLang="en-GB" sz="105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761747" y="4524599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endParaRPr lang="en-US" altLang="zh-CN" sz="1400">
              <a:ln w="381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28061" y="901697"/>
            <a:ext cx="3509207" cy="3509207"/>
            <a:chOff x="2511009" y="754818"/>
            <a:chExt cx="4121982" cy="4121982"/>
          </a:xfrm>
        </p:grpSpPr>
        <p:sp>
          <p:nvSpPr>
            <p:cNvPr id="15" name="椭圆 14"/>
            <p:cNvSpPr/>
            <p:nvPr/>
          </p:nvSpPr>
          <p:spPr>
            <a:xfrm>
              <a:off x="3073512" y="1317321"/>
              <a:ext cx="2996977" cy="2996977"/>
            </a:xfrm>
            <a:prstGeom prst="ellipse">
              <a:avLst/>
            </a:prstGeom>
            <a:gradFill flip="none" rotWithShape="1">
              <a:gsLst>
                <a:gs pos="51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2511009" y="754818"/>
              <a:ext cx="4121982" cy="4121982"/>
            </a:xfrm>
            <a:prstGeom prst="ellips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chemeClr val="accent1"/>
                  </a:gs>
                  <a:gs pos="93000">
                    <a:schemeClr val="accent1">
                      <a:alpha val="0"/>
                    </a:schemeClr>
                  </a:gs>
                  <a:gs pos="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611705" y="1853543"/>
              <a:ext cx="1920590" cy="19205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00">
                <a:cs typeface="Philosopher" panose="00000500000000000000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4226" y="1042257"/>
            <a:ext cx="2710357" cy="945515"/>
            <a:chOff x="108451" y="1301278"/>
            <a:chExt cx="2710357" cy="945515"/>
          </a:xfrm>
        </p:grpSpPr>
        <p:sp>
          <p:nvSpPr>
            <p:cNvPr id="18" name="文本框 17"/>
            <p:cNvSpPr txBox="1"/>
            <p:nvPr/>
          </p:nvSpPr>
          <p:spPr>
            <a:xfrm>
              <a:off x="486911" y="1913418"/>
              <a:ext cx="1953895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en-US" altLang="en-GB"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451" y="1593666"/>
              <a:ext cx="2710357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>
                <a:buClr>
                  <a:schemeClr val="accent2"/>
                </a:buClr>
              </a:pPr>
              <a:r>
                <a:rPr lang="en-US" altLang="en-GB" sz="1600">
                  <a:solidFill>
                    <a:schemeClr val="bg1"/>
                  </a:solidFill>
                  <a:sym typeface="+mn-ea"/>
                </a:rPr>
                <a:t>First impressions happen in 7–30 seconds</a:t>
              </a:r>
              <a:endParaRPr lang="en-GB" altLang="en-US" sz="1600">
                <a:solidFill>
                  <a:schemeClr val="bg1"/>
                </a:solidFill>
                <a:cs typeface="Philosopher" panose="00000500000000000000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3200" b="1">
                  <a:ln w="3175">
                    <a:gradFill>
                      <a:gsLst>
                        <a:gs pos="0">
                          <a:srgbClr val="FAD0B5"/>
                        </a:gs>
                        <a:gs pos="70000">
                          <a:srgbClr val="F7E7E1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noFill/>
                  <a:latin typeface="Open Sans" panose="020B0606030504020204" charset="0"/>
                  <a:ea typeface="Open Sans" panose="020B0606030504020204" charset="0"/>
                  <a:cs typeface="Philosopher" panose="00000500000000000000" charset="0"/>
                  <a:sym typeface="Open Sans" panose="020B0606030504020204" charset="0"/>
                </a:rPr>
                <a:t>01</a:t>
              </a:r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42240" y="2279872"/>
            <a:ext cx="2710357" cy="1122333"/>
            <a:chOff x="108451" y="1301278"/>
            <a:chExt cx="2710357" cy="1122333"/>
          </a:xfrm>
        </p:grpSpPr>
        <p:sp>
          <p:nvSpPr>
            <p:cNvPr id="24" name="文本框 23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en-US" altLang="en-GB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8451" y="1593666"/>
              <a:ext cx="2710357" cy="829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>
                <a:buClr>
                  <a:schemeClr val="accent2"/>
                </a:buClr>
              </a:pPr>
              <a:r>
                <a:rPr lang="en-US" altLang="en-GB" sz="1600">
                  <a:solidFill>
                    <a:schemeClr val="bg1"/>
                  </a:solidFill>
                  <a:sym typeface="Open Sans" panose="020B0606030504020204" charset="0"/>
                </a:rPr>
                <a:t>Audiences decide if they trust you before you finish your first sentence</a:t>
              </a:r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3200" b="1">
                  <a:ln w="3175">
                    <a:gradFill>
                      <a:gsLst>
                        <a:gs pos="0">
                          <a:srgbClr val="FAD0B5"/>
                        </a:gs>
                        <a:gs pos="70000">
                          <a:srgbClr val="F7E7E1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noFill/>
                  <a:latin typeface="Open Sans" panose="020B0606030504020204" charset="0"/>
                  <a:ea typeface="Open Sans" panose="020B0606030504020204" charset="0"/>
                  <a:cs typeface="Philosopher" panose="00000500000000000000" charset="0"/>
                  <a:sym typeface="Open Sans" panose="020B0606030504020204" charset="0"/>
                </a:rPr>
                <a:t>02</a:t>
              </a:r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42491" y="3862129"/>
            <a:ext cx="2710357" cy="1122333"/>
            <a:chOff x="108451" y="1301278"/>
            <a:chExt cx="2710357" cy="1122333"/>
          </a:xfrm>
        </p:grpSpPr>
        <p:sp>
          <p:nvSpPr>
            <p:cNvPr id="28" name="文本框 27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en-US" altLang="en-GB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8451" y="1593666"/>
              <a:ext cx="2710357" cy="829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>
                <a:buClr>
                  <a:schemeClr val="accent2"/>
                </a:buClr>
              </a:pPr>
              <a:r>
                <a:rPr lang="en-US" altLang="en-GB" sz="1600">
                  <a:solidFill>
                    <a:schemeClr val="bg1"/>
                  </a:solidFill>
                  <a:sym typeface="Open Sans" panose="020B0606030504020204" charset="0"/>
                </a:rPr>
                <a:t>Today: Learn how to win their attention and their hearts from the start</a:t>
              </a:r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3200" b="1">
                  <a:ln w="3175">
                    <a:gradFill>
                      <a:gsLst>
                        <a:gs pos="0">
                          <a:srgbClr val="FAD0B5"/>
                        </a:gs>
                        <a:gs pos="70000">
                          <a:srgbClr val="F7E7E1">
                            <a:alpha val="0"/>
                          </a:srgbClr>
                        </a:gs>
                      </a:gsLst>
                      <a:lin ang="5400000" scaled="1"/>
                    </a:gradFill>
                  </a:ln>
                  <a:noFill/>
                  <a:latin typeface="Open Sans" panose="020B0606030504020204" charset="0"/>
                  <a:ea typeface="Open Sans" panose="020B0606030504020204" charset="0"/>
                  <a:cs typeface="Philosopher" panose="00000500000000000000" charset="0"/>
                  <a:sym typeface="Open Sans" panose="020B0606030504020204" charset="0"/>
                </a:rPr>
                <a:t>03</a:t>
              </a:r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263640" y="3034089"/>
            <a:ext cx="2710357" cy="945616"/>
            <a:chOff x="108451" y="1301278"/>
            <a:chExt cx="2710357" cy="945616"/>
          </a:xfrm>
        </p:grpSpPr>
        <p:sp>
          <p:nvSpPr>
            <p:cNvPr id="32" name="文本框 31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8451" y="159366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endParaRPr lang="zh-CN" altLang="en-US" sz="1600">
                <a:cs typeface="Philosopher" panose="000005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5320665" y="2136140"/>
            <a:ext cx="1524000" cy="45446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en-GB" sz="1600">
                <a:ln w="38100">
                  <a:noFill/>
                </a:ln>
                <a:solidFill>
                  <a:srgbClr val="181718"/>
                </a:solidFill>
                <a:latin typeface="+mj-ea"/>
                <a:ea typeface="+mj-ea"/>
                <a:cs typeface="Philosopher" panose="00000500000000000000" charset="0"/>
                <a:sym typeface="+mn-lt"/>
              </a:rPr>
              <a:t>Because the first few seconds define everything.</a:t>
            </a:r>
            <a:endParaRPr lang="en-US" altLang="en-GB" sz="1600">
              <a:ln w="38100">
                <a:noFill/>
              </a:ln>
              <a:solidFill>
                <a:srgbClr val="181718"/>
              </a:soli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grpSp>
        <p:nvGrpSpPr>
          <p:cNvPr id="41" name="组合 40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498538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 Welcome &amp; Why This Matters</a:t>
            </a:r>
            <a:endParaRPr lang="en-US" altLang="en-GB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"/>
            </p:custDataLst>
          </p:nvPr>
        </p:nvSpPr>
        <p:spPr>
          <a:xfrm>
            <a:off x="428625" y="558800"/>
            <a:ext cx="3796030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en-US" altLang="en-GB" sz="900">
                <a:cs typeface="Philosopher" panose="00000500000000000000" charset="0"/>
              </a:rPr>
              <a:t> How to Make a Great First Impression in a Speech</a:t>
            </a:r>
            <a:endParaRPr lang="en-US" altLang="en-GB" sz="900">
              <a:cs typeface="Philosopher" panose="00000500000000000000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228600" y="0"/>
            <a:ext cx="6104890" cy="51435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983189" y="95112"/>
            <a:ext cx="584263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GB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Prepare to Impress</a:t>
            </a:r>
            <a:endParaRPr lang="en-US" altLang="en-GB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449445" y="1172210"/>
            <a:ext cx="202438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8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endParaRPr lang="zh-CN" altLang="en-US" sz="8800">
              <a:ln w="3175">
                <a:gradFill>
                  <a:gsLst>
                    <a:gs pos="0">
                      <a:schemeClr val="accent1"/>
                    </a:gs>
                    <a:gs pos="7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063750" y="1172210"/>
            <a:ext cx="5590540" cy="2953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sz="1400" b="1">
                <a:solidFill>
                  <a:schemeClr val="bg1"/>
                </a:solidFill>
                <a:cs typeface="+mn-ea"/>
              </a:rPr>
              <a:t> "Preparation isn't just homework — it's your superpower."</a:t>
            </a:r>
            <a:endParaRPr lang="en-US" altLang="en-GB" sz="1400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en-US" altLang="en-GB" sz="1400" b="1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Know your audience: Who are they? What do they care about?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Customize your message and tone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Craft a powerful opening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Surprising fact: “Your brain judges someone in less than one second”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Story: “Three years ago, I froze on stage…”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Question: “Have you ever felt invisible in a room full of people?”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Rehearse with purpose: mirror, video, real feedback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Body language, voice, and clarity = confidence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GB" altLang="en-US" sz="1200">
              <a:solidFill>
                <a:schemeClr val="bg1"/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228600" y="0"/>
            <a:ext cx="5010912" cy="51435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081405" y="95250"/>
            <a:ext cx="59778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 Start Strong</a:t>
            </a:r>
            <a:endParaRPr lang="en-US" altLang="en-GB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449445" y="1172210"/>
            <a:ext cx="202438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8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endParaRPr lang="zh-CN" altLang="en-US" sz="8800">
              <a:ln w="3175">
                <a:gradFill>
                  <a:gsLst>
                    <a:gs pos="0">
                      <a:schemeClr val="accent1"/>
                    </a:gs>
                    <a:gs pos="7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063750" y="1172210"/>
            <a:ext cx="5304790" cy="36766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sz="1400" b="1">
                <a:solidFill>
                  <a:schemeClr val="bg1"/>
                </a:solidFill>
                <a:cs typeface="+mn-ea"/>
              </a:rPr>
              <a:t> </a:t>
            </a:r>
            <a:r>
              <a:rPr lang="en-US" altLang="en-GB" sz="1600" b="1">
                <a:solidFill>
                  <a:schemeClr val="bg1"/>
                </a:solidFill>
                <a:cs typeface="+mn-ea"/>
              </a:rPr>
              <a:t> “You don’t get a second shot at a first impression — so make it count.”</a:t>
            </a:r>
            <a:endParaRPr lang="en-US" altLang="en-GB" sz="1600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en-US" altLang="en-GB" sz="1600" b="1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>
                <a:solidFill>
                  <a:schemeClr val="bg1"/>
                </a:solidFill>
                <a:cs typeface="+mn-ea"/>
              </a:rPr>
              <a:t>Walk in with purpose and calm energy</a:t>
            </a:r>
            <a:r>
              <a:rPr lang="en-GB" altLang="en-US" sz="14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4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>
                <a:solidFill>
                  <a:schemeClr val="bg1"/>
                </a:solidFill>
                <a:cs typeface="+mn-ea"/>
              </a:rPr>
              <a:t>Smile, eye contact, confident posture</a:t>
            </a:r>
            <a:r>
              <a:rPr lang="en-GB" altLang="en-US" sz="14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4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>
                <a:solidFill>
                  <a:schemeClr val="bg1"/>
                </a:solidFill>
                <a:cs typeface="+mn-ea"/>
              </a:rPr>
              <a:t>Memorize and practice your first sentence</a:t>
            </a:r>
            <a:r>
              <a:rPr lang="en-GB" altLang="en-US" sz="14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4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>
                <a:solidFill>
                  <a:schemeClr val="bg1"/>
                </a:solidFill>
                <a:cs typeface="+mn-ea"/>
              </a:rPr>
              <a:t>Set expectations: “Here’s what we’ll cover today…”</a:t>
            </a:r>
            <a:endParaRPr lang="en-US" altLang="en-GB" sz="14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>
                <a:solidFill>
                  <a:schemeClr val="bg1"/>
                </a:solidFill>
                <a:cs typeface="+mn-ea"/>
              </a:rPr>
              <a:t>Make it feel like a conversation, not a monologue</a:t>
            </a:r>
            <a:r>
              <a:rPr lang="en-GB" altLang="en-US" sz="14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4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GB" sz="1400">
              <a:solidFill>
                <a:schemeClr val="bg1"/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422275" y="95250"/>
            <a:ext cx="5010912" cy="51435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257300" y="95250"/>
            <a:ext cx="60001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 Own the Stage</a:t>
            </a:r>
            <a:endParaRPr lang="en-US" altLang="en-GB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449445" y="1172210"/>
            <a:ext cx="202438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8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endParaRPr lang="zh-CN" altLang="en-US" sz="8800">
              <a:ln w="3175">
                <a:gradFill>
                  <a:gsLst>
                    <a:gs pos="0">
                      <a:schemeClr val="accent1"/>
                    </a:gs>
                    <a:gs pos="7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063750" y="1172210"/>
            <a:ext cx="6595110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b="1">
                <a:solidFill>
                  <a:schemeClr val="bg1"/>
                </a:solidFill>
                <a:cs typeface="+mn-ea"/>
              </a:rPr>
              <a:t> “Your voice is an instrument — tune it to the message.”</a:t>
            </a:r>
            <a:endParaRPr lang="en-US" altLang="en-GB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en-US" altLang="en-GB" b="1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Use pauses for impact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	</a:t>
            </a:r>
            <a:endParaRPr lang="en-US" altLang="en-GB" sz="16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Emphasize key words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6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Speak slower than you think you should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6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Move with intention, use natural gestures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6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Ask rhetorical questions, engage with reactions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6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600">
                <a:solidFill>
                  <a:schemeClr val="bg1"/>
                </a:solidFill>
                <a:cs typeface="+mn-ea"/>
              </a:rPr>
              <a:t>Let the audience feel seen and part of the experience</a:t>
            </a:r>
            <a:r>
              <a:rPr lang="en-GB" altLang="en-US" sz="1600">
                <a:solidFill>
                  <a:schemeClr val="bg1"/>
                </a:solidFill>
                <a:cs typeface="+mn-ea"/>
              </a:rPr>
              <a:t>.</a:t>
            </a:r>
            <a:endParaRPr lang="en-GB" altLang="en-US" sz="1600">
              <a:solidFill>
                <a:schemeClr val="bg1"/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V="1">
            <a:off x="228600" y="0"/>
            <a:ext cx="5010912" cy="5143500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856824" y="95112"/>
            <a:ext cx="609536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GB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 Make It Memorable</a:t>
            </a:r>
            <a:endParaRPr lang="en-US" altLang="en-GB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449445" y="1172210"/>
            <a:ext cx="202438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8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endParaRPr lang="zh-CN" altLang="en-US" sz="8800">
              <a:ln w="3175">
                <a:gradFill>
                  <a:gsLst>
                    <a:gs pos="0">
                      <a:schemeClr val="accent1"/>
                    </a:gs>
                    <a:gs pos="7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063750" y="1172210"/>
            <a:ext cx="5663565" cy="359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sz="1400" b="1">
                <a:solidFill>
                  <a:schemeClr val="bg1"/>
                </a:solidFill>
                <a:cs typeface="+mn-ea"/>
              </a:rPr>
              <a:t>“Want to be unforgettable? Leave a signature.”</a:t>
            </a:r>
            <a:endParaRPr lang="en-US" altLang="en-GB" sz="1400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en-US" altLang="en-GB" sz="1400" b="1">
                <a:solidFill>
                  <a:schemeClr val="bg1"/>
                </a:solidFill>
                <a:cs typeface="+mn-ea"/>
              </a:rPr>
              <a:t>Use a phrase you repeat (“Here’s the real gold </a:t>
            </a:r>
            <a:r>
              <a:rPr lang="en-GB" altLang="en-US" sz="1400" b="1">
                <a:solidFill>
                  <a:schemeClr val="bg1"/>
                </a:solidFill>
                <a:cs typeface="+mn-ea"/>
              </a:rPr>
              <a:t>, which is not to wear, just to present, that is information</a:t>
            </a:r>
            <a:r>
              <a:rPr lang="en-US" altLang="en-GB" sz="1400" b="1">
                <a:solidFill>
                  <a:schemeClr val="bg1"/>
                </a:solidFill>
                <a:cs typeface="+mn-ea"/>
              </a:rPr>
              <a:t>...”)</a:t>
            </a:r>
            <a:endParaRPr lang="en-US" altLang="en-GB" sz="1400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en-US" altLang="en-GB" sz="1400" b="1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Incorporate a gesture or symbolic prop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171450" indent="-171450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Loop back to your opening story at the end Recap: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228600" indent="-228600" defTabSz="6858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Prepare to Impress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,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228600" indent="-228600" defTabSz="6858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Start Strong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,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marL="228600" indent="-228600" defTabSz="6858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GB" sz="1200">
                <a:solidFill>
                  <a:schemeClr val="bg1"/>
                </a:solidFill>
                <a:cs typeface="+mn-ea"/>
              </a:rPr>
              <a:t>Own the Stage</a:t>
            </a:r>
            <a:r>
              <a:rPr lang="en-GB" altLang="en-US" sz="1200">
                <a:solidFill>
                  <a:schemeClr val="bg1"/>
                </a:solidFill>
                <a:cs typeface="+mn-ea"/>
              </a:rPr>
              <a:t>.</a:t>
            </a:r>
            <a:endParaRPr lang="en-US" altLang="en-GB" sz="1200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en-US" altLang="en-GB" sz="1200" b="1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r>
              <a:rPr lang="en-US" altLang="en-GB" sz="1200" b="1">
                <a:solidFill>
                  <a:schemeClr val="bg1"/>
                </a:solidFill>
                <a:cs typeface="+mn-ea"/>
              </a:rPr>
              <a:t>“People may forget what you said, but they will never forget how you made them feel.” – Maya Angelou</a:t>
            </a:r>
            <a:endParaRPr lang="en-US" altLang="en-GB" sz="1200" b="1">
              <a:solidFill>
                <a:schemeClr val="bg1"/>
              </a:solidFill>
              <a:cs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H="1" flipV="1">
            <a:off x="3493897" y="699770"/>
            <a:ext cx="5010912" cy="51435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132504" y="95682"/>
            <a:ext cx="76516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761747" y="4524599"/>
            <a:ext cx="2262472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GB" altLang="en-US" sz="1400" b="1">
                <a:ln w="38100">
                  <a:noFill/>
                </a:ln>
                <a:solidFill>
                  <a:srgbClr val="C00000"/>
                </a:soli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CONCENTRIX</a:t>
            </a:r>
            <a:endParaRPr lang="en-GB" altLang="en-US" sz="1400" b="1">
              <a:ln w="38100">
                <a:noFill/>
              </a:ln>
              <a:solidFill>
                <a:srgbClr val="C00000"/>
              </a:soli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04254" y="402786"/>
            <a:ext cx="5364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 Q</a:t>
            </a:r>
            <a:r>
              <a:rPr lang="en-GB" alt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uestion </a:t>
            </a:r>
            <a:r>
              <a:rPr lang="en-US" alt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&amp;</a:t>
            </a:r>
            <a:r>
              <a:rPr lang="en-GB" alt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 </a:t>
            </a:r>
            <a:r>
              <a:rPr lang="en-US" alt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A</a:t>
            </a:r>
            <a:r>
              <a:rPr lang="en-GB" alt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nswers</a:t>
            </a:r>
            <a:endParaRPr lang="en-GB" alt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754092" y="3715437"/>
            <a:ext cx="1122989" cy="287190"/>
          </a:xfrm>
          <a:prstGeom prst="roundRect">
            <a:avLst>
              <a:gd name="adj" fmla="val 50000"/>
            </a:avLst>
          </a:prstGeom>
          <a:solidFill>
            <a:srgbClr val="FCC8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cs typeface="Philosopher" panose="00000500000000000000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83669" y="3750859"/>
            <a:ext cx="1228667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900" b="1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hilosopher" panose="00000500000000000000" charset="0"/>
                <a:ea typeface="Philosopher" panose="00000500000000000000" charset="0"/>
                <a:cs typeface="Philosopher" panose="00000500000000000000" charset="0"/>
                <a:sym typeface="Open Sans" panose="020B0606030504020204" charset="0"/>
              </a:rPr>
              <a:t>SHANKAR L R</a:t>
            </a:r>
            <a:endParaRPr kumimoji="0" lang="en-GB" altLang="en-US" sz="900" b="1" i="0" u="none" strike="noStrike" kern="1200" cap="none" spc="0" normalizeH="0" baseline="0" noProof="0">
              <a:ln w="381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Philosopher" panose="00000500000000000000" charset="0"/>
              <a:ea typeface="Philosopher" panose="00000500000000000000" charset="0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83072" y="1317532"/>
            <a:ext cx="4345162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GB" sz="1400" b="1">
                <a:solidFill>
                  <a:schemeClr val="bg1"/>
                </a:solidFill>
                <a:cs typeface="+mn-ea"/>
              </a:rPr>
              <a:t> Questions, comments, reflections?</a:t>
            </a:r>
            <a:endParaRPr lang="en-US" altLang="en-GB" sz="1400" b="1">
              <a:solidFill>
                <a:schemeClr val="bg1"/>
              </a:solidFill>
              <a:cs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07360" y="27870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83895" y="2947035"/>
            <a:ext cx="4572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GB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  <a:sym typeface="+mn-ea"/>
              </a:rPr>
              <a:t>Thank You</a:t>
            </a:r>
            <a:endParaRPr lang="en-GB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oZGlkIjoiMmNmYmEwOWQ4Y2Q0M2IxMGZkNjI4ZjhkZDQyNzg1OTYifQ=="/>
  <p:tag name="KSO_WPP_MARK_KEY" val="aa8c7646-61de-48a2-bdbc-d3e5c7c21b55"/>
</p:tagLst>
</file>

<file path=ppt/theme/theme1.xml><?xml version="1.0" encoding="utf-8"?>
<a:theme xmlns:a="http://schemas.openxmlformats.org/drawingml/2006/main" name="Office 主题​​">
  <a:themeElements>
    <a:clrScheme name="自定义 95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CC896"/>
      </a:accent1>
      <a:accent2>
        <a:srgbClr val="E0A366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2022采购宋体思源宋体 CN Heavy">
      <a:majorFont>
        <a:latin typeface="Open Sans"/>
        <a:ea typeface="Philosopher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商务风通用营销策划模板</Template>
  <TotalTime>0</TotalTime>
  <Words>2429</Words>
  <Application>WPS Slides</Application>
  <PresentationFormat>全屏显示(16:9)</PresentationFormat>
  <Paragraphs>117</Paragraphs>
  <Slides>8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Open Sans</vt:lpstr>
      <vt:lpstr>Philosopher</vt:lpstr>
      <vt:lpstr>Oswald</vt:lpstr>
      <vt:lpstr>Segoe Print</vt:lpstr>
      <vt:lpstr>等线</vt:lpstr>
      <vt:lpstr>Aharoni</vt:lpstr>
      <vt:lpstr>Yu Gothic UI Semibold</vt:lpstr>
      <vt:lpstr>思源黑体 CN Heavy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shankar lr</cp:lastModifiedBy>
  <cp:revision>21</cp:revision>
  <dcterms:created xsi:type="dcterms:W3CDTF">2022-06-22T06:53:00Z</dcterms:created>
  <dcterms:modified xsi:type="dcterms:W3CDTF">2025-04-08T16:15:31Z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470ABFBBB67B418184C9192529E1CB9E_11</vt:lpwstr>
  </property>
  <property fmtid="{D5CDD505-2E9C-101B-9397-08002B2CF9AE}" pid="3" name="KSOProductBuildVer">
    <vt:lpwstr>2057-12.2.0.20782</vt:lpwstr>
  </property>
</Properties>
</file>